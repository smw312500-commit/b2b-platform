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4" autoAdjust="0"/>
    <p:restoredTop sz="94610"/>
  </p:normalViewPr>
  <p:slideViewPr>
    <p:cSldViewPr snapToGrid="0" snapToObjects="1">
      <p:cViewPr>
        <p:scale>
          <a:sx n="95" d="100"/>
          <a:sy n="95" d="100"/>
        </p:scale>
        <p:origin x="7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8402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8016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8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737360"/>
            <a:ext cx="1216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0" y="2971800"/>
            <a:ext cx="1216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제조실행시스템 대시보드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520440" y="3749040"/>
            <a:ext cx="731520" cy="0"/>
          </a:xfrm>
          <a:prstGeom prst="line">
            <a:avLst/>
          </a:prstGeom>
          <a:noFill/>
          <a:ln w="12700">
            <a:solidFill>
              <a:srgbClr val="2B31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09560" y="3749040"/>
            <a:ext cx="731520" cy="0"/>
          </a:xfrm>
          <a:prstGeom prst="line">
            <a:avLst/>
          </a:prstGeom>
          <a:noFill/>
          <a:ln w="12700">
            <a:solidFill>
              <a:srgbClr val="2B31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3593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수평체계화 생산시스템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4440" y="4480560"/>
            <a:ext cx="2251710" cy="1600200"/>
          </a:xfrm>
          <a:prstGeom prst="rect">
            <a:avLst/>
          </a:prstGeom>
          <a:solidFill>
            <a:srgbClr val="1A1F2B"/>
          </a:solidFill>
          <a:ln w="6350">
            <a:solidFill>
              <a:srgbClr val="2B31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4663440"/>
            <a:ext cx="1885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5029200"/>
            <a:ext cx="188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v4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Lucide React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14750" y="4480560"/>
            <a:ext cx="2251710" cy="1600200"/>
          </a:xfrm>
          <a:prstGeom prst="rect">
            <a:avLst/>
          </a:prstGeom>
          <a:solidFill>
            <a:srgbClr val="1A1F2B"/>
          </a:solidFill>
          <a:ln w="6350">
            <a:solidFill>
              <a:srgbClr val="2B31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7630" y="4663440"/>
            <a:ext cx="1885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97630" y="5029200"/>
            <a:ext cx="188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5060" y="4480560"/>
            <a:ext cx="225171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7940" y="4663440"/>
            <a:ext cx="1885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77940" y="5029200"/>
            <a:ext cx="188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675370" y="4480560"/>
            <a:ext cx="2251710" cy="1600200"/>
          </a:xfrm>
          <a:prstGeom prst="rect">
            <a:avLst/>
          </a:prstGeom>
          <a:solidFill>
            <a:srgbClr val="1A1F2B"/>
          </a:solidFill>
          <a:ln w="6350">
            <a:solidFill>
              <a:srgbClr val="2B31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58250" y="4663440"/>
            <a:ext cx="1885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58250" y="5029200"/>
            <a:ext cx="18859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Railway</a:t>
            </a:r>
            <a:endParaRPr lang="en-US" sz="1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6355080"/>
            <a:ext cx="10698480" cy="0"/>
          </a:xfrm>
          <a:prstGeom prst="line">
            <a:avLst/>
          </a:prstGeom>
          <a:noFill/>
          <a:ln w="6350">
            <a:solidFill>
              <a:srgbClr val="2B31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송윤태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2026.04.01 — 2026.04.20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BACKGROUND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3명짜리 회사에서, 손발이 안 맞았다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2743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근무 현장의 경험에서 시작된 프로젝트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566160" cy="3291840"/>
          </a:xfrm>
          <a:prstGeom prst="rect">
            <a:avLst/>
          </a:prstGeom>
          <a:solidFill>
            <a:srgbClr val="1A1F2B"/>
          </a:solidFill>
          <a:ln w="6350">
            <a:solidFill>
              <a:srgbClr val="2B31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68880"/>
            <a:ext cx="73152" cy="3291840"/>
          </a:xfrm>
          <a:prstGeom prst="rect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서로의 상황을 모른다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"원자재 얼마 남았어?"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"몇 개 뽑으면 돼?"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부서별로 담당자가 다르니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매번 물어봐야 답이 나온다.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2468880"/>
            <a:ext cx="3566160" cy="3291840"/>
          </a:xfrm>
          <a:prstGeom prst="rect">
            <a:avLst/>
          </a:prstGeom>
          <a:solidFill>
            <a:srgbClr val="1A1F2B"/>
          </a:solidFill>
          <a:ln w="6350">
            <a:solidFill>
              <a:srgbClr val="2B31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468880"/>
            <a:ext cx="73152" cy="3291840"/>
          </a:xfrm>
          <a:prstGeom prst="rect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1772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수기 관리의 한계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4114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엑셀과 메모로 관리하는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납기·재고·작업 일정.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사람의 기억과 계산에 의존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누락과 실수가 반복된다.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566160" cy="3291840"/>
          </a:xfrm>
          <a:prstGeom prst="rect">
            <a:avLst/>
          </a:prstGeom>
          <a:solidFill>
            <a:srgbClr val="1A1F2B"/>
          </a:solidFill>
          <a:ln w="6350">
            <a:solidFill>
              <a:srgbClr val="2B313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468880"/>
            <a:ext cx="73152" cy="3291840"/>
          </a:xfrm>
          <a:prstGeom prst="rect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45820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비효율적 기계 배정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58200" y="41148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어느 기계에 뭘 돌릴지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즉흥적으로 결정.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가동률 저하와 납기 지연이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반복되는 구조.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solidFill>
            <a:srgbClr val="1E3A5F"/>
          </a:solidFill>
          <a:ln w="6350">
            <a:solidFill>
              <a:srgbClr val="5B8D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4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화면에서 모두가 같은 정보를 보고, AI가 계산·판단까지 돕는다면?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PROCESS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 구조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2743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5" name="Image 0" descr="/home/claude/mes_pro_ppt/proces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1691640"/>
            <a:ext cx="6181344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3949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FA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공정</a:t>
            </a: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원자재를 가공해 1차 결과물을 만드는 단계. 컨버팅 → 케어라벨, 스티커 컨버팅 → 스티커라벨.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공정</a:t>
            </a: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1차 결과물을 추가 가공하는 별도 공정. 컷팅은 케어라벨에만 적용.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2A1810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9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</a:t>
            </a:r>
            <a:r>
              <a:rPr lang="en-US" sz="12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컷팅은 필수가 아닌 </a:t>
            </a:r>
            <a:r>
              <a:rPr lang="en-US" sz="1200" b="1" dirty="0">
                <a:solidFill>
                  <a:srgbClr val="F09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 공정</a:t>
            </a:r>
            <a:r>
              <a:rPr lang="en-US" sz="12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입니다. 같은 케어라벨도 주문에 따라 컷팅을 거치거나 건너뜁니다 — 공정 계획을 복잡하게 만드는 핵심 변수.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INVENTORY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관리 화면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" cy="2286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5" name="Image 0" descr="/home/claude/mes_pro_ppt/inventory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1143000"/>
            <a:ext cx="9034272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61193" y="1800454"/>
            <a:ext cx="457200" cy="457200"/>
          </a:xfrm>
          <a:prstGeom prst="ellipse">
            <a:avLst/>
          </a:prstGeom>
          <a:solidFill>
            <a:srgbClr val="5B8D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61193" y="18004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2961193" y="3103474"/>
            <a:ext cx="457200" cy="457200"/>
          </a:xfrm>
          <a:prstGeom prst="ellipse">
            <a:avLst/>
          </a:prstGeom>
          <a:solidFill>
            <a:srgbClr val="5B8D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61193" y="310347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61193" y="3989527"/>
            <a:ext cx="457200" cy="457200"/>
          </a:xfrm>
          <a:prstGeom prst="ellipse">
            <a:avLst/>
          </a:prstGeom>
          <a:solidFill>
            <a:srgbClr val="E24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61193" y="398952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845930" y="1800454"/>
            <a:ext cx="457200" cy="457200"/>
          </a:xfrm>
          <a:prstGeom prst="ellipse">
            <a:avLst/>
          </a:prstGeom>
          <a:solidFill>
            <a:srgbClr val="5B8D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45930" y="18004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845930" y="4979822"/>
            <a:ext cx="457200" cy="457200"/>
          </a:xfrm>
          <a:prstGeom prst="ellipse">
            <a:avLst/>
          </a:prstGeom>
          <a:solidFill>
            <a:srgbClr val="5B8D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45930" y="497982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등록부터 AI 조언, 원자재 관리까지 5개 영역으로 구성. 다음 두 장에서 자세히 살펴봅니다.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INVENTORY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관리 ①②③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" cy="2286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5" name="Image 0" descr="/home/claude/mes_pro_ppt/inv_work_regi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6139314" cy="1210638"/>
          </a:xfrm>
          <a:prstGeom prst="rect">
            <a:avLst/>
          </a:prstGeom>
        </p:spPr>
      </p:pic>
      <p:pic>
        <p:nvPicPr>
          <p:cNvPr id="6" name="Image 1" descr="/home/claude/mes_pro_ppt/inv_summary_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627958"/>
            <a:ext cx="6139314" cy="2530919"/>
          </a:xfrm>
          <a:prstGeom prst="rect">
            <a:avLst/>
          </a:prstGeom>
        </p:spPr>
      </p:pic>
      <p:pic>
        <p:nvPicPr>
          <p:cNvPr id="7" name="Image 2" descr="/home/claude/mes_pro_ppt/inv_ai_adv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5296036"/>
            <a:ext cx="6139314" cy="1234752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56032" y="1280160"/>
            <a:ext cx="365760" cy="365760"/>
          </a:xfrm>
          <a:prstGeom prst="ellipse">
            <a:avLst/>
          </a:prstGeom>
          <a:solidFill>
            <a:srgbClr val="5B8D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56032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256032" y="2627958"/>
            <a:ext cx="365760" cy="365760"/>
          </a:xfrm>
          <a:prstGeom prst="ellipse">
            <a:avLst/>
          </a:prstGeom>
          <a:solidFill>
            <a:srgbClr val="5B8D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56032" y="262795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56032" y="5296036"/>
            <a:ext cx="365760" cy="365760"/>
          </a:xfrm>
          <a:prstGeom prst="ellipse">
            <a:avLst/>
          </a:prstGeom>
          <a:solidFill>
            <a:srgbClr val="E24B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256032" y="52960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922168" y="1325880"/>
            <a:ext cx="487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공정 작업 등록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922168" y="1737360"/>
            <a:ext cx="4873592" cy="707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컨버팅/스티커 컨버팅 작업을 등록. 작업 등록 시 작업한 만큼 원자재 재고가 자동 차감됩니다.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922168" y="2673678"/>
            <a:ext cx="4873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이력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922168" y="2900944"/>
            <a:ext cx="4953802" cy="1535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상단 요약 지표에서 현재 작업량과 부족한 재고까지 확인. 수정·삭제 시 재고 자동 역반영.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809553" y="5180268"/>
            <a:ext cx="3072384" cy="1326192"/>
          </a:xfrm>
          <a:prstGeom prst="rect">
            <a:avLst/>
          </a:prstGeom>
          <a:solidFill>
            <a:srgbClr val="2A1A1A"/>
          </a:solidFill>
          <a:ln w="6350">
            <a:solidFill>
              <a:srgbClr val="E24B4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016817" y="527197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r>
              <a:rPr lang="en-US" sz="1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AI 조언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955857" y="5637730"/>
            <a:ext cx="2926080" cy="73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생산 부서의 작업 현황을 실시간 모니터링해, 재고 부서에 자연어로 조언.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INVENTORY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관리 ④⑤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" cy="2286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5" name="Image 0" descr="/home/claude/mes_pro_ppt/inv_raw_mate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4622874" cy="3222003"/>
          </a:xfrm>
          <a:prstGeom prst="rect">
            <a:avLst/>
          </a:prstGeom>
        </p:spPr>
      </p:pic>
      <p:pic>
        <p:nvPicPr>
          <p:cNvPr id="6" name="Image 1" descr="/home/claude/mes_pro_ppt/inv_warehou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685043"/>
            <a:ext cx="4622874" cy="188734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032" y="1280160"/>
            <a:ext cx="365760" cy="365760"/>
          </a:xfrm>
          <a:prstGeom prst="ellipse">
            <a:avLst/>
          </a:prstGeom>
          <a:solidFill>
            <a:srgbClr val="5B8D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56032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56032" y="4685043"/>
            <a:ext cx="365760" cy="365760"/>
          </a:xfrm>
          <a:prstGeom prst="ellipse">
            <a:avLst/>
          </a:prstGeom>
          <a:solidFill>
            <a:srgbClr val="5B8D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6032" y="468504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262954" y="1325880"/>
            <a:ext cx="6624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r>
              <a:rPr lang="en-US" sz="1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원자재 재고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262954" y="1737360"/>
            <a:ext cx="6624246" cy="2719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칩·원단·스티커지 3가지 원자재 실시간 수량 관리. 입고 완료 이력과 입고 일정 등록으로 발주 예정 물량까지 통합 관리.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262954" y="4730763"/>
            <a:ext cx="66242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r>
              <a:rPr lang="en-US" sz="1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창고 설비 현황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262954" y="5142243"/>
            <a:ext cx="6624246" cy="1384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가동 가능 / 가동 중 / 정비 필요 설비를 실시간 확인. 설비가 가동 가능할 때만 입고 처리 가능.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 관리 화면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" cy="2286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5" name="Image 0" descr="/home/claude/mes_pro_ppt/production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1143000"/>
            <a:ext cx="9034272" cy="5212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70850" y="1800454"/>
            <a:ext cx="457200" cy="457200"/>
          </a:xfrm>
          <a:prstGeom prst="ellipse">
            <a:avLst/>
          </a:prstGeom>
          <a:solidFill>
            <a:srgbClr val="5DCA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870850" y="18004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84559" y="2061058"/>
            <a:ext cx="457200" cy="457200"/>
          </a:xfrm>
          <a:prstGeom prst="ellipse">
            <a:avLst/>
          </a:prstGeom>
          <a:solidFill>
            <a:srgbClr val="5B8D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4559" y="206105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285183" y="1800454"/>
            <a:ext cx="457200" cy="457200"/>
          </a:xfrm>
          <a:prstGeom prst="ellipse">
            <a:avLst/>
          </a:prstGeom>
          <a:solidFill>
            <a:srgbClr val="5B8D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285183" y="180045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9285183" y="3833165"/>
            <a:ext cx="457200" cy="457200"/>
          </a:xfrm>
          <a:prstGeom prst="ellipse">
            <a:avLst/>
          </a:prstGeom>
          <a:solidFill>
            <a:srgbClr val="5B8D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85183" y="383316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9285183" y="5188306"/>
            <a:ext cx="457200" cy="457200"/>
          </a:xfrm>
          <a:prstGeom prst="ellipse">
            <a:avLst/>
          </a:prstGeom>
          <a:solidFill>
            <a:srgbClr val="5B8DE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85183" y="51883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870850" y="5188306"/>
            <a:ext cx="457200" cy="457200"/>
          </a:xfrm>
          <a:prstGeom prst="ellipse">
            <a:avLst/>
          </a:prstGeom>
          <a:solidFill>
            <a:srgbClr val="5DCAA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870850" y="518830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사람은 </a:t>
            </a:r>
            <a:r>
              <a:rPr lang="en-US" sz="10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우선순위</a:t>
            </a: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 </a:t>
            </a:r>
            <a:r>
              <a:rPr lang="en-US" sz="10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설비 배분</a:t>
            </a: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판단. AI는 </a:t>
            </a:r>
            <a:r>
              <a:rPr lang="en-US" sz="10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갱신 버튼</a:t>
            </a: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통해 </a:t>
            </a:r>
            <a:r>
              <a:rPr lang="en-US" sz="10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②③④의 계산</a:t>
            </a: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담당.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 관리 ①⑤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" cy="2286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5" name="Image 0" descr="/home/claude/mes_pro_ppt/prod_order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3871464" cy="2295135"/>
          </a:xfrm>
          <a:prstGeom prst="rect">
            <a:avLst/>
          </a:prstGeom>
        </p:spPr>
      </p:pic>
      <p:pic>
        <p:nvPicPr>
          <p:cNvPr id="6" name="Image 1" descr="/home/claude/mes_pro_ppt/prod_machine_ass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58175"/>
            <a:ext cx="3871464" cy="283091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032" y="1280160"/>
            <a:ext cx="365760" cy="365760"/>
          </a:xfrm>
          <a:prstGeom prst="ellipse">
            <a:avLst/>
          </a:prstGeom>
          <a:solidFill>
            <a:srgbClr val="5DCA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56032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56032" y="3758175"/>
            <a:ext cx="365760" cy="365760"/>
          </a:xfrm>
          <a:prstGeom prst="ellipse">
            <a:avLst/>
          </a:prstGeom>
          <a:solidFill>
            <a:srgbClr val="5DCAA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6032" y="375817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11544" y="1325880"/>
            <a:ext cx="737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r>
              <a:rPr lang="en-US" sz="1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 운영 현황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11544" y="1737360"/>
            <a:ext cx="7375656" cy="1792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드롭다운으로 수주 우선순위를 직접 설정. 작업구분·컷팅·납기·수량·상태를 한눈에 관리.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11544" y="3803895"/>
            <a:ext cx="7375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</a:t>
            </a:r>
            <a:r>
              <a:rPr lang="en-US" sz="1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2공정 설비 현황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11544" y="4215375"/>
            <a:ext cx="7375656" cy="2327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사용자가 각 설비 카드에서 배분 수량을 직접 입력. 정비 필요 설비는 배분 대상에서 자동 제외.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solidFill>
            <a:srgbClr val="0F2E23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4360" y="6172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철학  </a:t>
            </a:r>
            <a:r>
              <a:rPr lang="en-US" sz="12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배분은 AI가 아닌 사람이 합니다. </a:t>
            </a: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변수가 실시간으로 바뀌기 때문 — AI에 최종 배분까지 맡기면 현장과 어긋날 수 있습니다.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계산하는 영역 ②③④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" cy="2286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5" name="Image 0" descr="/home/claude/mes_pro_ppt/prod_top_tod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2070400" cy="2139249"/>
          </a:xfrm>
          <a:prstGeom prst="rect">
            <a:avLst/>
          </a:prstGeom>
        </p:spPr>
      </p:pic>
      <p:pic>
        <p:nvPicPr>
          <p:cNvPr id="6" name="Image 1" descr="/home/claude/mes_pro_ppt/prod_mid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56569"/>
            <a:ext cx="2070400" cy="1395162"/>
          </a:xfrm>
          <a:prstGeom prst="rect">
            <a:avLst/>
          </a:prstGeom>
        </p:spPr>
      </p:pic>
      <p:pic>
        <p:nvPicPr>
          <p:cNvPr id="7" name="Image 2" descr="/home/claude/mes_pro_ppt/prod_bot_hou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5088891"/>
            <a:ext cx="2070400" cy="160865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256032" y="1280160"/>
            <a:ext cx="365760" cy="365760"/>
          </a:xfrm>
          <a:prstGeom prst="ellipse">
            <a:avLst/>
          </a:prstGeom>
          <a:solidFill>
            <a:srgbClr val="5B8D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256032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256032" y="3556569"/>
            <a:ext cx="365760" cy="365760"/>
          </a:xfrm>
          <a:prstGeom prst="ellipse">
            <a:avLst/>
          </a:prstGeom>
          <a:solidFill>
            <a:srgbClr val="5B8D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256032" y="35565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56032" y="5088891"/>
            <a:ext cx="365760" cy="365760"/>
          </a:xfrm>
          <a:prstGeom prst="ellipse">
            <a:avLst/>
          </a:prstGeom>
          <a:solidFill>
            <a:srgbClr val="5B8DE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256032" y="508889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710480" y="1325880"/>
            <a:ext cx="917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r>
              <a:rPr lang="en-US" sz="1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작업량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710480" y="1737360"/>
            <a:ext cx="9176720" cy="163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납기에서 역산해 오늘 처리해야 할 수량을 자동 계산. 긴급·여유 납기를 자동 분류. 오늘 목표 11,500개·예상 1.7시간.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710480" y="3602289"/>
            <a:ext cx="917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r>
              <a:rPr lang="en-US" sz="1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1차/2차 비교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2710480" y="4013769"/>
            <a:ext cx="9176720" cy="892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1차공정 보유 물량(253,000개)과 긴급 납기 필요량(6,000개) 자동 비교. 여유 발주 510,000개는 추가 확보 필요.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710480" y="5134611"/>
            <a:ext cx="917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</a:t>
            </a:r>
            <a:r>
              <a:rPr lang="en-US" sz="1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작업 시간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710480" y="5546091"/>
            <a:ext cx="9176720" cy="1105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접수·작업중 발주 전체의 1차공정(38.3h)과 컷팅(112.2h) 시간을 합산. 총 150.5시간.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계산합니다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65760" cy="2286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pic>
        <p:nvPicPr>
          <p:cNvPr id="5" name="Image 0" descr="/home/claude/mes_pro_ppt/prod_machin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188720"/>
            <a:ext cx="5175219" cy="4937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98179" y="2011680"/>
            <a:ext cx="5706141" cy="3291840"/>
          </a:xfrm>
          <a:prstGeom prst="rect">
            <a:avLst/>
          </a:prstGeom>
          <a:solidFill>
            <a:srgbClr val="1E3A5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72499" y="2286000"/>
            <a:ext cx="515750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갱신 버튼 한 번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55379" y="2834640"/>
            <a:ext cx="4791741" cy="0"/>
          </a:xfrm>
          <a:prstGeom prst="line">
            <a:avLst/>
          </a:prstGeom>
          <a:noFill/>
          <a:ln w="6350">
            <a:solidFill>
              <a:srgbClr val="5B8DE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72499" y="3017520"/>
            <a:ext cx="51575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인간이 우선순위를 정하면</a:t>
            </a:r>
            <a:endParaRPr lang="en-US" sz="2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계산합니다.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72499" y="4114800"/>
            <a:ext cx="515750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가동 가능 설비에 작업을 자동 배분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정비 필요 설비는 자동 제외</a:t>
            </a:r>
            <a:endParaRPr lang="en-US" sz="12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설비별 예상 소요 시간까지 계산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HOW IT WAS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코드보다 먼저 — 현장에서 가져온 규칙들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2743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시스템의 계산 로직은 교과서가 아니라 현장 경험에서 나왔습니다.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66160" cy="3474720"/>
          </a:xfrm>
          <a:prstGeom prst="rect">
            <a:avLst/>
          </a:prstGeom>
          <a:solidFill>
            <a:srgbClr val="1A1F2B"/>
          </a:solidFill>
          <a:ln w="10160">
            <a:solidFill>
              <a:srgbClr val="5DCA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194560"/>
            <a:ext cx="3566160" cy="54864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생산 속도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2880360"/>
            <a:ext cx="3108960" cy="0"/>
          </a:xfrm>
          <a:prstGeom prst="line">
            <a:avLst/>
          </a:prstGeom>
          <a:noFill/>
          <a:ln w="6350">
            <a:solidFill>
              <a:srgbClr val="2B31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175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컨버팅 — 시간당 3롤 / 6,900개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컨버팅 — 시간당 2롤 / 16,000개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컷팅 — 시간당 4,600개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 수치로 납기 역산 · 총 작업시간을 자동 계산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3566160" cy="3474720"/>
          </a:xfrm>
          <a:prstGeom prst="rect">
            <a:avLst/>
          </a:prstGeom>
          <a:solidFill>
            <a:srgbClr val="1A1F2B"/>
          </a:solidFill>
          <a:ln w="10160">
            <a:solidFill>
              <a:srgbClr val="5B8D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194560"/>
            <a:ext cx="3566160" cy="54864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원자재 소비 규칙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26280" y="2880360"/>
            <a:ext cx="3108960" cy="0"/>
          </a:xfrm>
          <a:prstGeom prst="line">
            <a:avLst/>
          </a:prstGeom>
          <a:noFill/>
          <a:ln w="6350">
            <a:solidFill>
              <a:srgbClr val="2B31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30175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컨버팅 1롤 =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원단 1롤 + 칩 2,300개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스티커 컨버팅 1롤 =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스티커지 1롤 + 칩 8,000개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작업 등록 시 원자재 자동 차감 근거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194560"/>
            <a:ext cx="3566160" cy="3474720"/>
          </a:xfrm>
          <a:prstGeom prst="rect">
            <a:avLst/>
          </a:prstGeom>
          <a:solidFill>
            <a:srgbClr val="1A1F2B"/>
          </a:solidFill>
          <a:ln w="10160">
            <a:solidFill>
              <a:srgbClr val="AFA9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194560"/>
            <a:ext cx="3566160" cy="54864"/>
          </a:xfrm>
          <a:prstGeom prst="rect">
            <a:avLst/>
          </a:prstGeom>
          <a:solidFill>
            <a:srgbClr val="AFA9EC"/>
          </a:solidFill>
          <a:ln w="12700">
            <a:solidFill>
              <a:srgbClr val="AFA9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377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FA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운영 규칙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75320" y="2880360"/>
            <a:ext cx="3108960" cy="0"/>
          </a:xfrm>
          <a:prstGeom prst="line">
            <a:avLst/>
          </a:prstGeom>
          <a:noFill/>
          <a:ln w="6350">
            <a:solidFill>
              <a:srgbClr val="2B31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017520"/>
            <a:ext cx="3108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근무: 08:30 ~ 17:00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점심 1시간 제외 → 하루 7.5H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우선순위: 1~5 수동 설정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낮을수록 우선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컷팅: 케어라벨 주문 단위로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플래그(requires_cutting)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897880"/>
            <a:ext cx="11064240" cy="594360"/>
          </a:xfrm>
          <a:prstGeom prst="rect">
            <a:avLst/>
          </a:prstGeom>
          <a:solidFill>
            <a:srgbClr val="1A2A1A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8978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수치들은 문서가 아니라 </a:t>
            </a:r>
            <a:r>
              <a:rPr lang="en-US" sz="13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현장에서 직접 파악한 도메인 지식</a:t>
            </a:r>
            <a:r>
              <a:rPr lang="en-US" sz="13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입니다. 계산 로직의 신뢰성은 여기서 출발합니다.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HOW IT WAS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설계 — 현장의 흐름을 테이블로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2743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i="1" dirty="0" smtClean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이전 회사</a:t>
            </a:r>
            <a:r>
              <a:rPr lang="en-US" sz="1300" i="1" dirty="0" smtClean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300" i="1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흐름을 그대로 담은 스키마를 설계했습니다.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05200" cy="1920240"/>
          </a:xfrm>
          <a:prstGeom prst="rect">
            <a:avLst/>
          </a:prstGeom>
          <a:solidFill>
            <a:srgbClr val="1A1F2B"/>
          </a:solidFill>
          <a:ln w="6350">
            <a:solidFill>
              <a:srgbClr val="5B8D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58568"/>
            <a:ext cx="313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수주 관리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807208"/>
            <a:ext cx="3139440" cy="0"/>
          </a:xfrm>
          <a:prstGeom prst="line">
            <a:avLst/>
          </a:prstGeom>
          <a:noFill/>
          <a:ln w="5080">
            <a:solidFill>
              <a:srgbClr val="2B31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036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order_number, customer_name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product_type, quantity, job_type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cutting, priority, status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due_date, created_at, completed_at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28160" y="2148840"/>
            <a:ext cx="3505200" cy="1920240"/>
          </a:xfrm>
          <a:prstGeom prst="rect">
            <a:avLst/>
          </a:prstGeom>
          <a:solidFill>
            <a:srgbClr val="1A1F2B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1040" y="2258568"/>
            <a:ext cx="313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C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raw_stock_receipts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11040" y="2560320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원자재 입고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11040" y="2807208"/>
            <a:ext cx="3139440" cy="0"/>
          </a:xfrm>
          <a:prstGeom prst="line">
            <a:avLst/>
          </a:prstGeom>
          <a:noFill/>
          <a:ln w="5080">
            <a:solidFill>
              <a:srgbClr val="2B31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1040" y="288036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material_type (원단·칩·스티커지)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quantity, received_date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note, created_at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07680" y="2148840"/>
            <a:ext cx="3505200" cy="1920240"/>
          </a:xfrm>
          <a:prstGeom prst="rect">
            <a:avLst/>
          </a:prstGeom>
          <a:solidFill>
            <a:srgbClr val="1A1F2B"/>
          </a:solidFill>
          <a:ln w="6350">
            <a:solidFill>
              <a:srgbClr val="AFA9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90560" y="2258568"/>
            <a:ext cx="313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FA9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first_process_sessions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90560" y="2560320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공정 세션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90560" y="2807208"/>
            <a:ext cx="3139440" cy="0"/>
          </a:xfrm>
          <a:prstGeom prst="line">
            <a:avLst/>
          </a:prstGeom>
          <a:noFill/>
          <a:ln w="5080">
            <a:solidFill>
              <a:srgbClr val="2B31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90560" y="288036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process_type, target_qty, output_qty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short_qty ← 불량 수량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(IN_PROGRESS / DONE / DEFECT_STOPPED)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parent_session_id ← 불량 후 재시작 추적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3505200" cy="1920240"/>
          </a:xfrm>
          <a:prstGeom prst="rect">
            <a:avLst/>
          </a:prstGeom>
          <a:solidFill>
            <a:srgbClr val="1A1F2B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361688"/>
            <a:ext cx="313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9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second_process_sessions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2차 공정 세션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910328"/>
            <a:ext cx="3139440" cy="0"/>
          </a:xfrm>
          <a:prstGeom prst="line">
            <a:avLst/>
          </a:prstGeom>
          <a:noFill/>
          <a:ln w="5080">
            <a:solidFill>
              <a:srgbClr val="2B31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98348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machine_id, units_per_hour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target_qty, output_qty, short_qty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work_minutes ← 실제 작업 시간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parent_session_id ← 재시작 추적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28160" y="4251960"/>
            <a:ext cx="3505200" cy="1920240"/>
          </a:xfrm>
          <a:prstGeom prst="rect">
            <a:avLst/>
          </a:prstGeom>
          <a:solidFill>
            <a:srgbClr val="1A1F2B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11040" y="4361688"/>
            <a:ext cx="313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9F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event_logs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11040" y="4663440"/>
            <a:ext cx="313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이벤트 로그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11040" y="4910328"/>
            <a:ext cx="3139440" cy="0"/>
          </a:xfrm>
          <a:prstGeom prst="line">
            <a:avLst/>
          </a:prstGeom>
          <a:noFill/>
          <a:ln w="5080">
            <a:solidFill>
              <a:srgbClr val="2B31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11040" y="4983480"/>
            <a:ext cx="313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event_type (WORK_START / MATERIAL_TO_FIRST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FIRST_TO_SECOND / WORK_DONE / SHORT_RECORD)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session_id, order_id, machine_id, qty</a:t>
            </a:r>
            <a:endParaRPr lang="en-US" sz="1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B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timestamp, note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6256823"/>
            <a:ext cx="11064240" cy="452628"/>
          </a:xfrm>
          <a:prstGeom prst="rect">
            <a:avLst/>
          </a:prstGeom>
          <a:solidFill>
            <a:srgbClr val="2A1810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17677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9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short_qty</a:t>
            </a:r>
            <a:r>
              <a:rPr lang="en-US" sz="11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공정·기계별 불량 피드백  </a:t>
            </a:r>
            <a:r>
              <a:rPr lang="en-US" sz="1200" b="1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parent_session_id</a:t>
            </a:r>
            <a:r>
              <a:rPr lang="en-US" sz="11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기계별 반복 불량 추적  </a:t>
            </a:r>
            <a:r>
              <a:rPr lang="en-US" sz="12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event_logs</a:t>
            </a:r>
            <a:r>
              <a:rPr lang="en-US" sz="11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생산성 변화 원인 분석 — 수주 감소(외부) vs 불량·병목(내부) 구분 가능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HOW IT WAS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만들면서 부딪힌 것들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2743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1828800"/>
          </a:xfrm>
          <a:prstGeom prst="rect">
            <a:avLst/>
          </a:prstGeom>
          <a:solidFill>
            <a:srgbClr val="1A1F2B"/>
          </a:solidFill>
          <a:ln w="6350">
            <a:solidFill>
              <a:srgbClr val="F099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4008" cy="1828800"/>
          </a:xfrm>
          <a:prstGeom prst="rect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9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128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실데이터가 없었다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3347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제조 현장 실데이터는 사내 자산이라 가져올 수 없었습니다.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현장에서 파악한 생산 속도·원자재 소비량을 production_config.json에 직접 수치화해 로직의 근거로 삼았습니다.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828800"/>
          </a:xfrm>
          <a:prstGeom prst="rect">
            <a:avLst/>
          </a:prstGeom>
          <a:solidFill>
            <a:srgbClr val="1A1F2B"/>
          </a:solidFill>
          <a:ln w="6350">
            <a:solidFill>
              <a:srgbClr val="EF9F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828800"/>
            <a:ext cx="64008" cy="182880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F9F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22128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서버를 띄울 수 없었다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63347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사비로 PostgreSQL 서버를 운영하기 어려웠습니다.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SQLite + better-sqlite3로 로컬 파일 기반 DB를 구성. WAL 모드로 동시 읽기 성능을 확보했습니다.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394960" cy="1828800"/>
          </a:xfrm>
          <a:prstGeom prst="rect">
            <a:avLst/>
          </a:prstGeom>
          <a:solidFill>
            <a:srgbClr val="1A1F2B"/>
          </a:solidFill>
          <a:ln w="6350">
            <a:solidFill>
              <a:srgbClr val="5B8D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86200"/>
            <a:ext cx="64008" cy="1828800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2702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공정불량(DEFECT) 흐름 설계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69087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중 불량이 발생하면 세션을 중단하고 재시작해야 하는데, 이 연속성을 어떻게 추적할지가 문제였습니다.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parent_session_id로 원본-재시작 세션을 연결하고, event_logs에 전체 흐름을 기록했습니다.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5394960" cy="1828800"/>
          </a:xfrm>
          <a:prstGeom prst="rect">
            <a:avLst/>
          </a:prstGeom>
          <a:solidFill>
            <a:srgbClr val="1A1F2B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886200"/>
            <a:ext cx="64008" cy="1828800"/>
          </a:xfrm>
          <a:prstGeom prst="rect">
            <a:avLst/>
          </a:prstGeom>
          <a:solidFill>
            <a:srgbClr val="5DCAA5"/>
          </a:solidFill>
          <a:ln w="12700">
            <a:solidFill>
              <a:srgbClr val="5DCA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4023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27024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프롬프트 설계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690872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재고 상황을 설명할 때, 숫자만 던지면 엉뚱한 조언이 나왔습니다.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현장 용어와 계산 맥락(접수량·작업중·발주량)을 구조화해서 프롬프트에 주입하는 방식으로 개선했습니다.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897880"/>
            <a:ext cx="11064240" cy="594360"/>
          </a:xfrm>
          <a:prstGeom prst="rect">
            <a:avLst/>
          </a:prstGeom>
          <a:solidFill>
            <a:srgbClr val="1A1F2B"/>
          </a:solidFill>
          <a:ln w="6350">
            <a:solidFill>
              <a:srgbClr val="2B31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8978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 </a:t>
            </a:r>
            <a:r>
              <a:rPr lang="en-US" sz="13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github.com/smw312500-commit/EM-AI-AGENT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사람과 사람 사이, 정보가 흘렀는가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2743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03120"/>
            <a:ext cx="5349240" cy="4114800"/>
          </a:xfrm>
          <a:prstGeom prst="rect">
            <a:avLst/>
          </a:prstGeom>
          <a:solidFill>
            <a:srgbClr val="1A1F2B"/>
          </a:solidFill>
          <a:ln w="6350">
            <a:solidFill>
              <a:srgbClr val="2B3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774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· 수기 관리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사람에게 묻는 구조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소통 방식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전화 · 메신저 · 회의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6908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접근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담당자만 안다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66344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속도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8920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몇 분 ~ 며칠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25780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부서 경계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5486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수직적 사일로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2103120"/>
            <a:ext cx="5349240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23774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· MES PRO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29400" y="269748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먼저 알려주는 구조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347472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소통 방식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37033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· AI 조언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406908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접근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0" y="429768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모두가 같은 화면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466344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속도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48920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버튼 한 번 · 수 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5257800"/>
            <a:ext cx="4617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B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부서 경계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29400" y="548640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수평적 공유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연결한 세 가지 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27432"/>
          </a:xfrm>
          <a:prstGeom prst="rect">
            <a:avLst/>
          </a:prstGeom>
          <a:solidFill>
            <a:srgbClr val="5B8DEF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57800" y="2834640"/>
            <a:ext cx="1645920" cy="1645920"/>
          </a:xfrm>
          <a:prstGeom prst="ellipse">
            <a:avLst/>
          </a:prstGeom>
          <a:solidFill>
            <a:srgbClr val="1E3A5F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257800" y="37033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17320" y="1828800"/>
            <a:ext cx="2286000" cy="914400"/>
          </a:xfrm>
          <a:prstGeom prst="rect">
            <a:avLst/>
          </a:prstGeom>
          <a:solidFill>
            <a:srgbClr val="1A1F2B"/>
          </a:solidFill>
          <a:ln w="10160">
            <a:solidFill>
              <a:srgbClr val="5DCA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재고 부서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원자재·1차 결과물 관리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58200" y="1828800"/>
            <a:ext cx="2286000" cy="914400"/>
          </a:xfrm>
          <a:prstGeom prst="rect">
            <a:avLst/>
          </a:prstGeom>
          <a:solidFill>
            <a:srgbClr val="1A1F2B"/>
          </a:solidFill>
          <a:ln w="10160">
            <a:solidFill>
              <a:srgbClr val="AFA9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920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FA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 부서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582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공정 계획·납기 관리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4846320"/>
            <a:ext cx="2286000" cy="914400"/>
          </a:xfrm>
          <a:prstGeom prst="rect">
            <a:avLst/>
          </a:prstGeom>
          <a:solidFill>
            <a:srgbClr val="1A1F2B"/>
          </a:solidFill>
          <a:ln w="10160">
            <a:solidFill>
              <a:srgbClr val="F09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9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작업자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5303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설비 배분·실제 작업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57800" y="3383280"/>
            <a:ext cx="0" cy="0"/>
          </a:xfrm>
          <a:prstGeom prst="line">
            <a:avLst/>
          </a:prstGeom>
          <a:noFill/>
          <a:ln w="12700">
            <a:solidFill>
              <a:srgbClr val="9BA3AF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03720" y="3383280"/>
            <a:ext cx="1554480" cy="0"/>
          </a:xfrm>
          <a:prstGeom prst="line">
            <a:avLst/>
          </a:prstGeom>
          <a:noFill/>
          <a:ln w="12700">
            <a:solidFill>
              <a:srgbClr val="9BA3AF"/>
            </a:solidFill>
            <a:prstDash val="solid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4480560"/>
            <a:ext cx="0" cy="365760"/>
          </a:xfrm>
          <a:prstGeom prst="line">
            <a:avLst/>
          </a:prstGeom>
          <a:noFill/>
          <a:ln w="12700">
            <a:solidFill>
              <a:srgbClr val="9BA3AF"/>
            </a:solidFill>
            <a:prstDash val="solid"/>
            <a:headEnd type="triangl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47472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 현황 모니터링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063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AFA9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납기 역산·작업량 계산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55080" y="4480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9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판단 재료 제공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답을 내는 존재가 아니라 — 판단을 돕는 존재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· 수평체계화 생산시스템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64240" y="64922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9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246888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제가 만든 건 MES가 아닙니다.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337560" y="3657600"/>
            <a:ext cx="914400" cy="0"/>
          </a:xfrm>
          <a:prstGeom prst="line">
            <a:avLst/>
          </a:prstGeom>
          <a:noFill/>
          <a:ln w="10160">
            <a:solidFill>
              <a:srgbClr val="2B31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09560" y="3657600"/>
            <a:ext cx="914400" cy="0"/>
          </a:xfrm>
          <a:prstGeom prst="line">
            <a:avLst/>
          </a:prstGeom>
          <a:noFill/>
          <a:ln w="10160">
            <a:solidFill>
              <a:srgbClr val="2B31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51960" y="3383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B8D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수평화입니다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0" y="484632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en-US" sz="15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3명짜리 회사에서도 부서 간 장벽은 있었고,</a:t>
            </a:r>
            <a:endParaRPr lang="en-US" sz="150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en-US" sz="1500" dirty="0">
                <a:solidFill>
                  <a:srgbClr val="9B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그 장벽을 허무는 가장 유연한 도구였습니다.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6217920"/>
            <a:ext cx="1216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Pro — 송윤태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1307</Words>
  <Application>Microsoft Office PowerPoint</Application>
  <PresentationFormat>와이드스크린</PresentationFormat>
  <Paragraphs>281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 Pro 포트폴리오</dc:title>
  <dc:subject>PptxGenJS Presentation</dc:subject>
  <dc:creator>송윤태</dc:creator>
  <cp:lastModifiedBy>송윤태</cp:lastModifiedBy>
  <cp:revision>2</cp:revision>
  <dcterms:created xsi:type="dcterms:W3CDTF">2026-04-23T00:52:33Z</dcterms:created>
  <dcterms:modified xsi:type="dcterms:W3CDTF">2026-04-23T01:14:02Z</dcterms:modified>
</cp:coreProperties>
</file>